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Trirong Bold" charset="1" panose="00000800000000000000"/>
      <p:regular r:id="rId17"/>
    </p:embeddedFont>
    <p:embeddedFont>
      <p:font typeface="Calibri (MS)" charset="1" panose="020F0502020204030204"/>
      <p:regular r:id="rId18"/>
    </p:embeddedFont>
    <p:embeddedFont>
      <p:font typeface="Trirong" charset="1" panose="00000500000000000000"/>
      <p:regular r:id="rId23"/>
    </p:embeddedFont>
    <p:embeddedFont>
      <p:font typeface="Calibri (MS) Italics" charset="1" panose="020F05020202040A0204"/>
      <p:regular r:id="rId25"/>
    </p:embeddedFont>
    <p:embeddedFont>
      <p:font typeface="Trirong Heavy" charset="1" panose="00000A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Recebi a base real de Itapema — Airbnb e VivaReal — para indicar à Seazone qual imóvel adquirir hoje. Já começo pela resposta: um apartamento de 2 quartos em Morretes, com elevador, por cerca de 750 mil reais, com retorno de cerca de 7% ao ano, comprado à vista. Vou justificar em quatro pontos.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melhor perfil é um apartamento de 2 quartos. A receita sobe com a capacidade — cada quarto a mais soma cerca de dois mil reais por mês. Dois quartos é o equilíbrio: rende quase como os maiores, mas custa bem menos. Apartamento é 84% do mercado e o mais fácil de revender.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que mais pesa na receita, além da capacidade, é o elevador e o estacionamento — o hóspede de praia chega de carro. Já a nota do anúncio e a reputação do anfitrião quase não importam. E piscina, academia e espaço gourmet custam mais do que devolvem. Isso direciona a escolha: capacidade e essas instalações, não fama.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que mais pesa na receita, além da capacidade, é o elevador e o estacionamento — o hóspede de praia chega de carro. Já a nota do anúncio e a reputação do anfitrião quase não importam. E piscina, academia e espaço gourmet custam mais do que devolvem. Isso direciona a escolha: capacidade e essas instalações, não fama.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recomendação: um apartamento de 2 quartos em Morretes, com elevador, por cerca de 750 mil reais, com retorno líquido de cerca de 7% ao ano, à vista. É competitivo com o padrão da Seazone — o case dela no Centro projeta cerca de 8%. E financiar não compensa: a taxa hoje supera o retorno do imóvel.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Usei IA para cruzar as cinco bases e montar o modelo, para pesquisar taxas reais de mercado e — o mais importante — para tentar derrubar a própria conclusão, com testes de robustez e um segundo cálculo independente. Todo o processo, inclusive os caminhos que abandonei, está na pasta ai-log.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mais uma semana, eu buscaria dados reais de ocupação e a geolocalização exata até a praia, e validaria custos com fornecedores. Em uma frase: a compra mais defensável hoje é um apartamento de 2 quartos, com elevador, em Morretes, por 750 mil reais e cerca de 7% ao ano — e a tese do compacto no Centro não se sustenta.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60120"/>
            <a:ext cx="15087600" cy="411480"/>
            <a:chOff x="0" y="0"/>
            <a:chExt cx="20116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9FC7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HACKATHON SEAZONE · ITAPEMA / SC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684" y="2797182"/>
            <a:ext cx="16184880" cy="1584397"/>
            <a:chOff x="0" y="0"/>
            <a:chExt cx="21579840" cy="2112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2112529"/>
            </a:xfrm>
            <a:custGeom>
              <a:avLst/>
              <a:gdLst/>
              <a:ahLst/>
              <a:cxnLst/>
              <a:rect r="r" b="b" t="t" l="l"/>
              <a:pathLst>
                <a:path h="2112529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2112529"/>
                  </a:lnTo>
                  <a:lnTo>
                    <a:pt x="0" y="2112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43" r="0" b="-12934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579840" cy="2112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b="true" sz="6399" spc="-97">
                  <a:solidFill>
                    <a:srgbClr val="CFE0DE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Recomendação de investimento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9568" y="9258300"/>
            <a:ext cx="9778147" cy="1085488"/>
            <a:chOff x="0" y="0"/>
            <a:chExt cx="13037530" cy="14473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37530" cy="1447317"/>
            </a:xfrm>
            <a:custGeom>
              <a:avLst/>
              <a:gdLst/>
              <a:ahLst/>
              <a:cxnLst/>
              <a:rect r="r" b="b" t="t" l="l"/>
              <a:pathLst>
                <a:path h="1447317" w="13037530">
                  <a:moveTo>
                    <a:pt x="0" y="0"/>
                  </a:moveTo>
                  <a:lnTo>
                    <a:pt x="13037530" y="0"/>
                  </a:lnTo>
                  <a:lnTo>
                    <a:pt x="13037530" y="1447317"/>
                  </a:lnTo>
                  <a:lnTo>
                    <a:pt x="0" y="1447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497" r="-68326" b="-2144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037530" cy="151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7E979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Vinicius Noronha Almeida Martiniano de Azevedo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555348" y="272280"/>
            <a:ext cx="3269726" cy="2179817"/>
          </a:xfrm>
          <a:custGeom>
            <a:avLst/>
            <a:gdLst/>
            <a:ahLst/>
            <a:cxnLst/>
            <a:rect r="r" b="b" t="t" l="l"/>
            <a:pathLst>
              <a:path h="2179817" w="3269726">
                <a:moveTo>
                  <a:pt x="0" y="0"/>
                </a:moveTo>
                <a:lnTo>
                  <a:pt x="3269726" y="0"/>
                </a:lnTo>
                <a:lnTo>
                  <a:pt x="3269726" y="2179817"/>
                </a:lnTo>
                <a:lnTo>
                  <a:pt x="0" y="2179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796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133856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822960"/>
            <a:ext cx="15128748" cy="1028700"/>
            <a:chOff x="0" y="0"/>
            <a:chExt cx="20171664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716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71665">
                  <a:moveTo>
                    <a:pt x="0" y="0"/>
                  </a:moveTo>
                  <a:lnTo>
                    <a:pt x="20171665" y="0"/>
                  </a:lnTo>
                  <a:lnTo>
                    <a:pt x="201716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9" r="0" b="-2365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7166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Qual o melhor perfil?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400300"/>
            <a:ext cx="16459200" cy="960120"/>
            <a:chOff x="0" y="0"/>
            <a:chExt cx="219456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Apartamento</a:t>
              </a:r>
              <a:r>
                <a:rPr lang="en-US" b="true" sz="4500" spc="-68">
                  <a:solidFill>
                    <a:srgbClr val="6E7D83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  ·  </a:t>
              </a:r>
              <a:r>
                <a:rPr lang="en-US" b="true" sz="4500" spc="-68">
                  <a:solidFill>
                    <a:srgbClr val="17968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2 quartos</a:t>
              </a:r>
              <a:r>
                <a:rPr lang="en-US" b="true" sz="4500" spc="-68">
                  <a:solidFill>
                    <a:srgbClr val="6E7D83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  ·  </a:t>
              </a:r>
              <a:r>
                <a:rPr lang="en-US" b="true" sz="4500" spc="-68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com elevador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695596"/>
            <a:ext cx="850392" cy="850392"/>
            <a:chOff x="0" y="0"/>
            <a:chExt cx="1133856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7968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3695596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133856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94560" y="3668164"/>
            <a:ext cx="15128748" cy="1028700"/>
            <a:chOff x="0" y="0"/>
            <a:chExt cx="20171664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716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71665">
                  <a:moveTo>
                    <a:pt x="0" y="0"/>
                  </a:moveTo>
                  <a:lnTo>
                    <a:pt x="20171665" y="0"/>
                  </a:lnTo>
                  <a:lnTo>
                    <a:pt x="201716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9" r="0" b="-2365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017166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Melhor localização?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2291" y="4696864"/>
            <a:ext cx="7886700" cy="3223260"/>
            <a:chOff x="0" y="0"/>
            <a:chExt cx="10515600" cy="429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1560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515600">
                  <a:moveTo>
                    <a:pt x="0" y="166362"/>
                  </a:moveTo>
                  <a:cubicBezTo>
                    <a:pt x="0" y="74516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74516"/>
                    <a:pt x="10515600" y="166362"/>
                  </a:cubicBezTo>
                  <a:lnTo>
                    <a:pt x="10515600" y="4131318"/>
                  </a:lnTo>
                  <a:cubicBezTo>
                    <a:pt x="10515600" y="4223164"/>
                    <a:pt x="10417302" y="4297680"/>
                    <a:pt x="10296144" y="4297680"/>
                  </a:cubicBezTo>
                  <a:lnTo>
                    <a:pt x="219456" y="4297680"/>
                  </a:lnTo>
                  <a:cubicBezTo>
                    <a:pt x="98298" y="4297680"/>
                    <a:pt x="0" y="4223164"/>
                    <a:pt x="0" y="4131318"/>
                  </a:cubicBezTo>
                  <a:close/>
                </a:path>
              </a:pathLst>
            </a:custGeom>
            <a:solidFill>
              <a:srgbClr val="F1F5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10931" y="5176924"/>
            <a:ext cx="6789420" cy="685800"/>
            <a:chOff x="0" y="0"/>
            <a:chExt cx="905256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052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C8861B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MEIA PRAIA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0931" y="6068464"/>
            <a:ext cx="6789420" cy="548640"/>
            <a:chOff x="0" y="0"/>
            <a:chExt cx="90525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052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Líder em receita bruta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0931" y="6754264"/>
            <a:ext cx="6789420" cy="1234440"/>
            <a:chOff x="0" y="0"/>
            <a:chExt cx="905256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52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0525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R$ 7,4 mil/mês · motor turístico, 64% da oferta da cidade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4696864"/>
            <a:ext cx="7886700" cy="3223260"/>
            <a:chOff x="0" y="0"/>
            <a:chExt cx="10515600" cy="429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1560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515600">
                  <a:moveTo>
                    <a:pt x="0" y="166362"/>
                  </a:moveTo>
                  <a:cubicBezTo>
                    <a:pt x="0" y="74516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74516"/>
                    <a:pt x="10515600" y="166362"/>
                  </a:cubicBezTo>
                  <a:lnTo>
                    <a:pt x="10515600" y="4131318"/>
                  </a:lnTo>
                  <a:cubicBezTo>
                    <a:pt x="10515600" y="4223164"/>
                    <a:pt x="10417302" y="4297680"/>
                    <a:pt x="10296144" y="4297680"/>
                  </a:cubicBezTo>
                  <a:lnTo>
                    <a:pt x="219456" y="4297680"/>
                  </a:lnTo>
                  <a:cubicBezTo>
                    <a:pt x="98298" y="4297680"/>
                    <a:pt x="0" y="4223164"/>
                    <a:pt x="0" y="4131318"/>
                  </a:cubicBezTo>
                  <a:close/>
                </a:path>
              </a:pathLst>
            </a:custGeom>
            <a:solidFill>
              <a:srgbClr val="10394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92640" y="5176924"/>
            <a:ext cx="6789420" cy="685800"/>
            <a:chOff x="0" y="0"/>
            <a:chExt cx="905256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52560" cy="914400"/>
            </a:xfrm>
            <a:custGeom>
              <a:avLst/>
              <a:gdLst/>
              <a:ahLst/>
              <a:cxnLst/>
              <a:rect r="r" b="b" t="t" l="l"/>
              <a:pathLst>
                <a:path h="9144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901" r="0" b="-1429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052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5FD0C2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MORRETES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92640" y="6068464"/>
            <a:ext cx="6789420" cy="548640"/>
            <a:chOff x="0" y="0"/>
            <a:chExt cx="90525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52560" cy="731520"/>
            </a:xfrm>
            <a:custGeom>
              <a:avLst/>
              <a:gdLst/>
              <a:ahLst/>
              <a:cxnLst/>
              <a:rect r="r" b="b" t="t" l="l"/>
              <a:pathLst>
                <a:path h="731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9052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Vence em retorno sobre o capital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92640" y="6754264"/>
            <a:ext cx="6789420" cy="1234440"/>
            <a:chOff x="0" y="0"/>
            <a:chExt cx="905256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52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0525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AFC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imóvel custa menos e a receita não cai na mesma proporção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796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133856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822960"/>
            <a:ext cx="15128748" cy="1028700"/>
            <a:chOff x="0" y="0"/>
            <a:chExt cx="20171664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716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71665">
                  <a:moveTo>
                    <a:pt x="0" y="0"/>
                  </a:moveTo>
                  <a:lnTo>
                    <a:pt x="20171665" y="0"/>
                  </a:lnTo>
                  <a:lnTo>
                    <a:pt x="201716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9" r="0" b="-2365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7166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O que explica a receita?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971666"/>
            <a:ext cx="5212080" cy="2948940"/>
            <a:chOff x="0" y="0"/>
            <a:chExt cx="6949440" cy="393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49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66560" y="0"/>
                  </a:lnTo>
                  <a:cubicBezTo>
                    <a:pt x="6867525" y="0"/>
                    <a:pt x="6949440" y="81915"/>
                    <a:pt x="6949440" y="182880"/>
                  </a:cubicBezTo>
                  <a:lnTo>
                    <a:pt x="6949440" y="3749040"/>
                  </a:lnTo>
                  <a:cubicBezTo>
                    <a:pt x="6949440" y="3850005"/>
                    <a:pt x="6867525" y="3931920"/>
                    <a:pt x="676656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1F5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2383146"/>
            <a:ext cx="4389120" cy="754380"/>
            <a:chOff x="0" y="0"/>
            <a:chExt cx="585216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8521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b="true" sz="3450" spc="-52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Capacidade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0180" y="3274686"/>
            <a:ext cx="4457700" cy="1371600"/>
            <a:chOff x="0" y="0"/>
            <a:chExt cx="594360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quartos, banheiros, camas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83680" y="1971666"/>
            <a:ext cx="5212080" cy="2948940"/>
            <a:chOff x="0" y="0"/>
            <a:chExt cx="6949440" cy="393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494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49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66560" y="0"/>
                  </a:lnTo>
                  <a:cubicBezTo>
                    <a:pt x="6867525" y="0"/>
                    <a:pt x="6949440" y="81915"/>
                    <a:pt x="6949440" y="182880"/>
                  </a:cubicBezTo>
                  <a:lnTo>
                    <a:pt x="6949440" y="3749040"/>
                  </a:lnTo>
                  <a:cubicBezTo>
                    <a:pt x="6949440" y="3850005"/>
                    <a:pt x="6867525" y="3931920"/>
                    <a:pt x="676656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1F5F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95160" y="2383146"/>
            <a:ext cx="4389120" cy="754380"/>
            <a:chOff x="0" y="0"/>
            <a:chExt cx="585216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8521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b="true" sz="3450" spc="-52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Elevador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95160" y="3274686"/>
            <a:ext cx="4457700" cy="1371600"/>
            <a:chOff x="0" y="0"/>
            <a:chExt cx="59436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+22% — compensa o custo na compra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38660" y="1971666"/>
            <a:ext cx="5212080" cy="2948940"/>
            <a:chOff x="0" y="0"/>
            <a:chExt cx="6949440" cy="3931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494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49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766560" y="0"/>
                  </a:lnTo>
                  <a:cubicBezTo>
                    <a:pt x="6867525" y="0"/>
                    <a:pt x="6949440" y="81915"/>
                    <a:pt x="6949440" y="182880"/>
                  </a:cubicBezTo>
                  <a:lnTo>
                    <a:pt x="6949440" y="3749040"/>
                  </a:lnTo>
                  <a:cubicBezTo>
                    <a:pt x="6949440" y="3850005"/>
                    <a:pt x="6867525" y="3931920"/>
                    <a:pt x="676656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1F5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50140" y="2383146"/>
            <a:ext cx="4389120" cy="754380"/>
            <a:chOff x="0" y="0"/>
            <a:chExt cx="585216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8521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b="true" sz="3450" spc="-52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Estacionamento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50140" y="3274686"/>
            <a:ext cx="4457700" cy="1371600"/>
            <a:chOff x="0" y="0"/>
            <a:chExt cx="594360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+29% — hóspede de praia chega de carro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2990" y="5187306"/>
            <a:ext cx="16322040" cy="1371600"/>
            <a:chOff x="0" y="0"/>
            <a:chExt cx="2176272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2176272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 b="true">
                  <a:solidFill>
                    <a:srgbClr val="103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Contraste: </a:t>
              </a:r>
              <a:r>
                <a:rPr lang="en-US" sz="2550">
                  <a:solidFill>
                    <a:srgbClr val="1E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nota do anúncio e reputação do anfitrião quase não importam (correlação ≈ 0). Piscina, academia e espaço gourmet custam mais do que devolvem.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502920" y="6511281"/>
            <a:ext cx="17219212" cy="476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456" y="179747"/>
            <a:ext cx="17372940" cy="1183538"/>
            <a:chOff x="0" y="0"/>
            <a:chExt cx="23163920" cy="15780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3919" cy="1578051"/>
            </a:xfrm>
            <a:custGeom>
              <a:avLst/>
              <a:gdLst/>
              <a:ahLst/>
              <a:cxnLst/>
              <a:rect r="r" b="b" t="t" l="l"/>
              <a:pathLst>
                <a:path h="1578051" w="23163919">
                  <a:moveTo>
                    <a:pt x="0" y="0"/>
                  </a:moveTo>
                  <a:lnTo>
                    <a:pt x="23163919" y="0"/>
                  </a:lnTo>
                  <a:lnTo>
                    <a:pt x="23163919" y="1578051"/>
                  </a:lnTo>
                  <a:lnTo>
                    <a:pt x="0" y="1578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05" r="6206" b="-2117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163920" cy="1578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A tese do compacto no Centro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7456" y="1110539"/>
            <a:ext cx="17548424" cy="1259891"/>
            <a:chOff x="0" y="0"/>
            <a:chExt cx="23397899" cy="1679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97899" cy="1679854"/>
            </a:xfrm>
            <a:custGeom>
              <a:avLst/>
              <a:gdLst/>
              <a:ahLst/>
              <a:cxnLst/>
              <a:rect r="r" b="b" t="t" l="l"/>
              <a:pathLst>
                <a:path h="1679854" w="23397899">
                  <a:moveTo>
                    <a:pt x="0" y="0"/>
                  </a:moveTo>
                  <a:lnTo>
                    <a:pt x="23397899" y="0"/>
                  </a:lnTo>
                  <a:lnTo>
                    <a:pt x="23397899" y="1679854"/>
                  </a:lnTo>
                  <a:lnTo>
                    <a:pt x="0" y="16798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05" r="6206" b="-1980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3397899" cy="1679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-78">
                  <a:solidFill>
                    <a:srgbClr val="C8861B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NÃO </a:t>
              </a:r>
              <a:r>
                <a:rPr lang="en-US" b="true" sz="5100" spc="-78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se sustenta nos dados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7456" y="2385136"/>
            <a:ext cx="233979" cy="219456"/>
            <a:chOff x="0" y="0"/>
            <a:chExt cx="311972" cy="292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972" cy="292608"/>
            </a:xfrm>
            <a:custGeom>
              <a:avLst/>
              <a:gdLst/>
              <a:ahLst/>
              <a:cxnLst/>
              <a:rect r="r" b="b" t="t" l="l"/>
              <a:pathLst>
                <a:path h="292608" w="311972">
                  <a:moveTo>
                    <a:pt x="0" y="146304"/>
                  </a:moveTo>
                  <a:cubicBezTo>
                    <a:pt x="0" y="65532"/>
                    <a:pt x="69869" y="0"/>
                    <a:pt x="155986" y="0"/>
                  </a:cubicBezTo>
                  <a:cubicBezTo>
                    <a:pt x="242103" y="0"/>
                    <a:pt x="311972" y="65532"/>
                    <a:pt x="311972" y="146304"/>
                  </a:cubicBezTo>
                  <a:cubicBezTo>
                    <a:pt x="311972" y="227076"/>
                    <a:pt x="242103" y="292608"/>
                    <a:pt x="155986" y="292608"/>
                  </a:cubicBezTo>
                  <a:cubicBezTo>
                    <a:pt x="69869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8861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2404" y="2231974"/>
            <a:ext cx="169634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E2A2E"/>
                </a:solidFill>
                <a:latin typeface="Calibri (MS)"/>
                <a:ea typeface="Calibri (MS)"/>
                <a:cs typeface="Calibri (MS)"/>
                <a:sym typeface="Calibri (MS)"/>
              </a:rPr>
              <a:t>Só 3 studios no Centro inteiro — de 657 anúncios do bairro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1979" y="3175901"/>
            <a:ext cx="219456" cy="219456"/>
            <a:chOff x="0" y="0"/>
            <a:chExt cx="292608" cy="2926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8861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52404" y="3023692"/>
            <a:ext cx="169634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E2A2E"/>
                </a:solidFill>
                <a:latin typeface="Calibri (MS)"/>
                <a:ea typeface="Calibri (MS)"/>
                <a:cs typeface="Calibri (MS)"/>
                <a:sym typeface="Calibri (MS)"/>
              </a:rPr>
              <a:t>Compactos no Centro rendem menos da metade de um apartamento maior no mesmo bairro, com o m² mais caro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796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850392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133856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822960"/>
            <a:ext cx="15128748" cy="1028700"/>
            <a:chOff x="0" y="0"/>
            <a:chExt cx="20171664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716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71665">
                  <a:moveTo>
                    <a:pt x="0" y="0"/>
                  </a:moveTo>
                  <a:lnTo>
                    <a:pt x="20171665" y="0"/>
                  </a:lnTo>
                  <a:lnTo>
                    <a:pt x="201716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9" r="0" b="-2365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7166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O que comprar hoje?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38360" y="2674620"/>
            <a:ext cx="7543800" cy="4800600"/>
            <a:chOff x="0" y="0"/>
            <a:chExt cx="10058400" cy="640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0058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838944" y="0"/>
                  </a:lnTo>
                  <a:cubicBezTo>
                    <a:pt x="9960102" y="0"/>
                    <a:pt x="10058400" y="98298"/>
                    <a:pt x="10058400" y="219456"/>
                  </a:cubicBezTo>
                  <a:lnTo>
                    <a:pt x="10058400" y="6181344"/>
                  </a:lnTo>
                  <a:cubicBezTo>
                    <a:pt x="10058400" y="6302502"/>
                    <a:pt x="9960102" y="6400800"/>
                    <a:pt x="9838944" y="6400800"/>
                  </a:cubicBezTo>
                  <a:lnTo>
                    <a:pt x="219456" y="6400800"/>
                  </a:lnTo>
                  <a:cubicBezTo>
                    <a:pt x="98298" y="6400800"/>
                    <a:pt x="0" y="6302502"/>
                    <a:pt x="0" y="6181344"/>
                  </a:cubicBezTo>
                  <a:close/>
                </a:path>
              </a:pathLst>
            </a:custGeom>
            <a:solidFill>
              <a:srgbClr val="F1F5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0" y="3086100"/>
            <a:ext cx="6446520" cy="960120"/>
            <a:chOff x="0" y="0"/>
            <a:chExt cx="8595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953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03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Competitivo com o padrão da própria Seazone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0" y="4183380"/>
            <a:ext cx="6446520" cy="1097280"/>
            <a:chOff x="0" y="0"/>
            <a:chExt cx="85953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859536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1E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Case da Seazone em Itapema (Manhattan Flats): </a:t>
              </a:r>
              <a:r>
                <a:rPr lang="en-US" sz="2400" b="true">
                  <a:solidFill>
                    <a:srgbClr val="103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~8,1% a.a.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0" y="5623560"/>
            <a:ext cx="6446520" cy="1508760"/>
            <a:chOff x="0" y="0"/>
            <a:chExt cx="859536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953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59536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C886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Financiar não compensa: </a:t>
              </a:r>
              <a:r>
                <a:rPr lang="en-US" sz="2400">
                  <a:solidFill>
                    <a:srgbClr val="1E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taxa (~11% a.a.) supera o retorno do imóvel — a compra é à vista.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5252" y="2583641"/>
            <a:ext cx="8622836" cy="2743200"/>
            <a:chOff x="0" y="0"/>
            <a:chExt cx="11497115" cy="365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97115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497115">
                  <a:moveTo>
                    <a:pt x="0" y="0"/>
                  </a:moveTo>
                  <a:lnTo>
                    <a:pt x="11497115" y="0"/>
                  </a:lnTo>
                  <a:lnTo>
                    <a:pt x="11497115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-90879" b="-669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497115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488"/>
                </a:lnSpc>
              </a:pPr>
              <a:r>
                <a:rPr lang="en-US" sz="3400" spc="-52">
                  <a:solidFill>
                    <a:srgbClr val="2C5666"/>
                  </a:solidFill>
                  <a:latin typeface="Trirong"/>
                  <a:ea typeface="Trirong"/>
                  <a:cs typeface="Trirong"/>
                  <a:sym typeface="Trirong"/>
                </a:rPr>
                <a:t>Para a Seazone, a compra mais defensável hoje é um </a:t>
              </a:r>
              <a:r>
                <a:rPr lang="en-US" b="true" sz="3400" spc="-52">
                  <a:solidFill>
                    <a:srgbClr val="000000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apartamento de 2 quartos, com elevador, em Morretes — ~R$ 750 mil, ~7% ao ano, à vista.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2960"/>
            <a:ext cx="16294608" cy="1028700"/>
            <a:chOff x="0" y="0"/>
            <a:chExt cx="21726144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261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26144">
                  <a:moveTo>
                    <a:pt x="0" y="0"/>
                  </a:moveTo>
                  <a:lnTo>
                    <a:pt x="21726144" y="0"/>
                  </a:lnTo>
                  <a:lnTo>
                    <a:pt x="217261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643" r="0" b="-2586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2614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-73">
                  <a:solidFill>
                    <a:srgbClr val="10394A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Como cheguei — e como usei 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06040"/>
            <a:ext cx="754380" cy="754380"/>
            <a:chOff x="0" y="0"/>
            <a:chExt cx="100584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039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60604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94560" y="2537460"/>
            <a:ext cx="15087600" cy="685800"/>
            <a:chOff x="0" y="0"/>
            <a:chExt cx="201168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Cruzei as 5 bases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94560" y="3182112"/>
            <a:ext cx="15087600" cy="617220"/>
            <a:chOff x="0" y="0"/>
            <a:chExt cx="2011680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300" r="0" b="-4263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1168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montei o modelo de retorno de baixo para cima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4320540"/>
            <a:ext cx="754380" cy="754380"/>
            <a:chOff x="0" y="0"/>
            <a:chExt cx="100584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039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320540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94560" y="4251960"/>
            <a:ext cx="15087600" cy="685800"/>
            <a:chOff x="0" y="0"/>
            <a:chExt cx="201168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Pesquisei taxas reais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94560" y="4896612"/>
            <a:ext cx="15087600" cy="617220"/>
            <a:chOff x="0" y="0"/>
            <a:chExt cx="2011680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0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300" r="0" b="-4263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1168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ITBI, financiamento, gestão, impostos — nada inventado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03504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039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603504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94560" y="5966460"/>
            <a:ext cx="15087600" cy="685800"/>
            <a:chOff x="0" y="0"/>
            <a:chExt cx="201168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E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Tentei derrubar a própria conclusão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94560" y="6611112"/>
            <a:ext cx="15087600" cy="617220"/>
            <a:chOff x="0" y="0"/>
            <a:chExt cx="2011680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16800" cy="822960"/>
            </a:xfrm>
            <a:custGeom>
              <a:avLst/>
              <a:gdLst/>
              <a:ahLst/>
              <a:cxnLst/>
              <a:rect r="r" b="b" t="t" l="l"/>
              <a:pathLst>
                <a:path h="8229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300" r="0" b="-4263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01168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7D8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bootstrap, testes de robustez e um 2º cálculo independente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9216" y="8656216"/>
            <a:ext cx="5249267" cy="1204168"/>
            <a:chOff x="0" y="0"/>
            <a:chExt cx="6999022" cy="16055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99022" cy="1605558"/>
            </a:xfrm>
            <a:custGeom>
              <a:avLst/>
              <a:gdLst/>
              <a:ahLst/>
              <a:cxnLst/>
              <a:rect r="r" b="b" t="t" l="l"/>
              <a:pathLst>
                <a:path h="1605558" w="6999022">
                  <a:moveTo>
                    <a:pt x="0" y="0"/>
                  </a:moveTo>
                  <a:lnTo>
                    <a:pt x="6999022" y="0"/>
                  </a:lnTo>
                  <a:lnTo>
                    <a:pt x="6999022" y="1605558"/>
                  </a:lnTo>
                  <a:lnTo>
                    <a:pt x="0" y="1605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50" r="-213552" b="-18911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999022" cy="1643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E7D8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Todo o processo — inclusive os caminhos que abandonei — está registrado na pasta ai-log.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3246120" y="562356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1436843" y="2537460"/>
            <a:ext cx="5578499" cy="411480"/>
            <a:chOff x="0" y="0"/>
            <a:chExt cx="7437999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999" cy="548640"/>
            </a:xfrm>
            <a:custGeom>
              <a:avLst/>
              <a:gdLst/>
              <a:ahLst/>
              <a:cxnLst/>
              <a:rect r="r" b="b" t="t" l="l"/>
              <a:pathLst>
                <a:path h="548640" w="7437999">
                  <a:moveTo>
                    <a:pt x="0" y="0"/>
                  </a:moveTo>
                  <a:lnTo>
                    <a:pt x="7437999" y="0"/>
                  </a:lnTo>
                  <a:lnTo>
                    <a:pt x="743799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51" r="-170459" b="-66445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437999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 MAIS UMA SEMANA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436843" y="2871337"/>
            <a:ext cx="6503893" cy="1938286"/>
            <a:chOff x="0" y="0"/>
            <a:chExt cx="8671858" cy="25843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671858" cy="2584382"/>
            </a:xfrm>
            <a:custGeom>
              <a:avLst/>
              <a:gdLst/>
              <a:ahLst/>
              <a:cxnLst/>
              <a:rect r="r" b="b" t="t" l="l"/>
              <a:pathLst>
                <a:path h="2584382" w="8671858">
                  <a:moveTo>
                    <a:pt x="0" y="0"/>
                  </a:moveTo>
                  <a:lnTo>
                    <a:pt x="8671858" y="0"/>
                  </a:lnTo>
                  <a:lnTo>
                    <a:pt x="8671858" y="2584382"/>
                  </a:lnTo>
                  <a:lnTo>
                    <a:pt x="0" y="25843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99" r="-150957" b="-994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8671858" cy="2689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1039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reais de ocupação (hoje é proxy de calendário) · geolocalização exata até a faixa de areia · validar custos de aquisição e gestão com fornecedores.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46540" y="3948691"/>
            <a:ext cx="9994920" cy="1990028"/>
            <a:chOff x="0" y="0"/>
            <a:chExt cx="10012374" cy="19935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12373" cy="1993503"/>
            </a:xfrm>
            <a:custGeom>
              <a:avLst/>
              <a:gdLst/>
              <a:ahLst/>
              <a:cxnLst/>
              <a:rect r="r" b="b" t="t" l="l"/>
              <a:pathLst>
                <a:path h="1993503" w="10012373">
                  <a:moveTo>
                    <a:pt x="0" y="0"/>
                  </a:moveTo>
                  <a:lnTo>
                    <a:pt x="10012373" y="0"/>
                  </a:lnTo>
                  <a:lnTo>
                    <a:pt x="10012373" y="1993503"/>
                  </a:lnTo>
                  <a:lnTo>
                    <a:pt x="0" y="1993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866" r="-100919" b="-1103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012374" cy="1993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59"/>
                </a:lnSpc>
              </a:pPr>
              <a:r>
                <a:rPr lang="en-US" sz="8049" b="true">
                  <a:solidFill>
                    <a:srgbClr val="9FC7C1"/>
                  </a:solidFill>
                  <a:latin typeface="Trirong Heavy"/>
                  <a:ea typeface="Trirong Heavy"/>
                  <a:cs typeface="Trirong Heavy"/>
                  <a:sym typeface="Trirong Heavy"/>
                </a:rPr>
                <a:t>Muito Obrigado!!!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DAHTcvetTF0</dc:identifier>
  <dcterms:modified xsi:type="dcterms:W3CDTF">2011-08-01T06:04:30Z</dcterms:modified>
  <cp:revision>1</cp:revision>
  <dc:title>Pitch_Seazone_v6.pptx</dc:title>
</cp:coreProperties>
</file>