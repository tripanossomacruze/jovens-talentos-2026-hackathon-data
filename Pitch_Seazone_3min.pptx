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2435A"/>
                </a:solidFill>
                <a:latin typeface="Segoe UI"/>
              </a:rPr>
              <a:t>Recomendação de Investimento — Itapema/SC</a:t>
            </a:r>
          </a:p>
          <a:p>
            <a:r>
              <a:rPr sz="1500">
                <a:solidFill>
                  <a:srgbClr val="555B63"/>
                </a:solidFill>
                <a:latin typeface="Segoe UI"/>
              </a:rPr>
              <a:t>Decisão: aquisição de imóvel pronto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966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2435A"/>
                </a:solidFill>
                <a:latin typeface="Segoe UI"/>
              </a:rPr>
              <a:t>Para a Seazone — adquirir</a:t>
            </a:r>
          </a:p>
          <a:p>
            <a:r>
              <a:rPr sz="2200" b="1">
                <a:solidFill>
                  <a:srgbClr val="2A9D8F"/>
                </a:solidFill>
                <a:latin typeface="Segoe UI"/>
              </a:rPr>
              <a:t>Apartamento de 2 quartos em Morretes, com elevador</a:t>
            </a:r>
          </a:p>
          <a:p>
            <a:r>
              <a:rPr sz="1600">
                <a:solidFill>
                  <a:srgbClr val="555B63"/>
                </a:solidFill>
                <a:latin typeface="Segoe UI"/>
              </a:rPr>
              <a:t>~R$ 750 mil · retorno líquido ~7% a.a. · 5 bases reais (Airbnb + VivaReal)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55B63"/>
                </a:solidFill>
                <a:latin typeface="Segoe UI"/>
              </a:rPr>
              <a:t>Vídeo de até 3 minutos · abertura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2435A"/>
                </a:solidFill>
                <a:latin typeface="Segoe UI"/>
              </a:rPr>
              <a:t>O que vou mostrar</a:t>
            </a:r>
          </a:p>
          <a:p>
            <a:r>
              <a:rPr sz="1500">
                <a:solidFill>
                  <a:srgbClr val="555B63"/>
                </a:solidFill>
                <a:latin typeface="Segoe UI"/>
              </a:rPr>
              <a:t>Roteiro do vídeo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2435A"/>
                </a:solidFill>
                <a:latin typeface="Segoe UI"/>
              </a:rPr>
              <a:t>1. Qual o melhor perfil de imóvel</a:t>
            </a:r>
            <a:r>
              <a:rPr sz="2000">
                <a:solidFill>
                  <a:srgbClr val="555B63"/>
                </a:solidFill>
                <a:latin typeface="Segoe UI"/>
              </a:rPr>
              <a:t> para investir?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2435A"/>
                </a:solidFill>
                <a:latin typeface="Segoe UI"/>
              </a:rPr>
              <a:t>2. Melhor localização</a:t>
            </a:r>
            <a:r>
              <a:rPr sz="2000">
                <a:solidFill>
                  <a:srgbClr val="555B63"/>
                </a:solidFill>
                <a:latin typeface="Segoe UI"/>
              </a:rPr>
              <a:t> em termos de receita?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2435A"/>
                </a:solidFill>
                <a:latin typeface="Segoe UI"/>
              </a:rPr>
              <a:t>3. Quais características</a:t>
            </a:r>
            <a:r>
              <a:rPr sz="2000">
                <a:solidFill>
                  <a:srgbClr val="555B63"/>
                </a:solidFill>
                <a:latin typeface="Segoe UI"/>
              </a:rPr>
              <a:t> explicam as melhores receitas?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2435A"/>
                </a:solidFill>
                <a:latin typeface="Segoe UI"/>
              </a:rPr>
              <a:t>4. O que comprar hoje</a:t>
            </a:r>
            <a:r>
              <a:rPr sz="2000">
                <a:solidFill>
                  <a:srgbClr val="555B63"/>
                </a:solidFill>
                <a:latin typeface="Segoe UI"/>
              </a:rPr>
              <a:t> — estimativa de retorno e por quê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555B63"/>
                </a:solidFill>
                <a:latin typeface="Segoe UI"/>
              </a:rPr>
              <a:t>Posição sobre a tese interna (studio/1Q no Centro)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555B63"/>
                </a:solidFill>
                <a:latin typeface="Segoe UI"/>
              </a:rPr>
              <a:t>Como usei IA + o que faria com mais uma semana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55B63"/>
                </a:solidFill>
                <a:latin typeface="Segoe UI"/>
              </a:rPr>
              <a:t>Responde às 4 perguntas do desafio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2435A"/>
                </a:solidFill>
                <a:latin typeface="Segoe UI"/>
              </a:rPr>
              <a:t>1. Qual o melhor perfil?</a:t>
            </a:r>
          </a:p>
          <a:p>
            <a:r>
              <a:rPr sz="1500">
                <a:solidFill>
                  <a:srgbClr val="555B63"/>
                </a:solidFill>
                <a:latin typeface="Segoe UI"/>
              </a:rPr>
              <a:t>Apartamento de 2 quartos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555B63"/>
                </a:solidFill>
                <a:latin typeface="Segoe UI"/>
              </a:rPr>
              <a:t>Receita escala com </a:t>
            </a:r>
            <a:r>
              <a:rPr sz="2000" b="1">
                <a:solidFill>
                  <a:srgbClr val="12435A"/>
                </a:solidFill>
                <a:latin typeface="Segoe UI"/>
              </a:rPr>
              <a:t>capacidade</a:t>
            </a:r>
            <a:r>
              <a:rPr sz="2000">
                <a:solidFill>
                  <a:srgbClr val="555B63"/>
                </a:solidFill>
                <a:latin typeface="Segoe UI"/>
              </a:rPr>
              <a:t>: cada quarto a mais soma ~</a:t>
            </a:r>
            <a:r>
              <a:rPr sz="2000" b="1">
                <a:solidFill>
                  <a:srgbClr val="12435A"/>
                </a:solidFill>
                <a:latin typeface="Segoe UI"/>
              </a:rPr>
              <a:t>R$2 mil/mês</a:t>
            </a:r>
            <a:r>
              <a:rPr sz="2000">
                <a:solidFill>
                  <a:srgbClr val="555B63"/>
                </a:solidFill>
                <a:latin typeface="Segoe UI"/>
              </a:rPr>
              <a:t> (mediana)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2435A"/>
                </a:solidFill>
                <a:latin typeface="Segoe UI"/>
              </a:rPr>
              <a:t>2 quartos</a:t>
            </a:r>
            <a:r>
              <a:rPr sz="2000">
                <a:solidFill>
                  <a:srgbClr val="555B63"/>
                </a:solidFill>
                <a:latin typeface="Segoe UI"/>
              </a:rPr>
              <a:t> = equilíbrio: rende quase como imóveis maiores, custando bem menos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555B63"/>
                </a:solidFill>
                <a:latin typeface="Segoe UI"/>
              </a:rPr>
              <a:t>Apartamento domina o mercado (</a:t>
            </a:r>
            <a:r>
              <a:rPr sz="2000" b="1">
                <a:solidFill>
                  <a:srgbClr val="12435A"/>
                </a:solidFill>
                <a:latin typeface="Segoe UI"/>
              </a:rPr>
              <a:t>84%</a:t>
            </a:r>
            <a:r>
              <a:rPr sz="2000">
                <a:solidFill>
                  <a:srgbClr val="555B63"/>
                </a:solidFill>
                <a:latin typeface="Segoe UI"/>
              </a:rPr>
              <a:t> dos anúncios) e é o mais líquido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555B63"/>
                </a:solidFill>
                <a:latin typeface="Segoe UI"/>
              </a:rPr>
              <a:t>Comparativo 1Q: R$4.194/mês · studio: R$3.705/mês · </a:t>
            </a:r>
            <a:r>
              <a:rPr sz="2000" b="1">
                <a:solidFill>
                  <a:srgbClr val="12435A"/>
                </a:solidFill>
                <a:latin typeface="Segoe UI"/>
              </a:rPr>
              <a:t>2Q: ~R$6.004/mês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555B63"/>
                </a:solidFill>
                <a:latin typeface="Segoe UI"/>
              </a:rPr>
              <a:t>Tipo de anúncio: </a:t>
            </a:r>
            <a:r>
              <a:rPr sz="2000" b="1">
                <a:solidFill>
                  <a:srgbClr val="12435A"/>
                </a:solidFill>
                <a:latin typeface="Segoe UI"/>
              </a:rPr>
              <a:t>temporada (short stay)</a:t>
            </a:r>
            <a:r>
              <a:rPr sz="2000">
                <a:solidFill>
                  <a:srgbClr val="555B63"/>
                </a:solidFill>
                <a:latin typeface="Segoe UI"/>
              </a:rPr>
              <a:t> — o que maximiza ADR na cidade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55B63"/>
                </a:solidFill>
                <a:latin typeface="Segoe UI"/>
              </a:rPr>
              <a:t>(Q1) Tipologia + nº de quartos + tipo de anúncio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2435A"/>
                </a:solidFill>
                <a:latin typeface="Segoe UI"/>
              </a:rPr>
              <a:t>2. Melhor localização?</a:t>
            </a:r>
          </a:p>
          <a:p>
            <a:r>
              <a:rPr sz="1500">
                <a:solidFill>
                  <a:srgbClr val="555B63"/>
                </a:solidFill>
                <a:latin typeface="Segoe UI"/>
              </a:rPr>
              <a:t>Receita bruta vs. retorno sobre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C8860B"/>
                </a:solidFill>
                <a:latin typeface="Segoe UI"/>
              </a:rPr>
              <a:t>Meia Praia</a:t>
            </a:r>
          </a:p>
          <a:p>
            <a:r>
              <a:rPr sz="1500">
                <a:solidFill>
                  <a:srgbClr val="555B63"/>
                </a:solidFill>
                <a:latin typeface="Segoe UI"/>
              </a:rPr>
              <a:t>lidera em receita bruta — R$ 7.443/mês, motor turístico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A9D8F"/>
                </a:solidFill>
                <a:latin typeface="Segoe UI"/>
              </a:rPr>
              <a:t>Morretes</a:t>
            </a:r>
          </a:p>
          <a:p>
            <a:r>
              <a:rPr sz="1500">
                <a:solidFill>
                  <a:srgbClr val="555B63"/>
                </a:solidFill>
                <a:latin typeface="Segoe UI"/>
              </a:rPr>
              <a:t>vence em retorno sobre o capital — preço de entrada menor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73736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55B63"/>
                </a:solidFill>
                <a:latin typeface="Segoe UI"/>
              </a:rPr>
              <a:t>Receita bruta ≠ retorno.
Bairros mais baratos (Morretes) entregam maior yield porque o imóvel custa menos e a receita não cai na mesma proporção.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55B63"/>
                </a:solidFill>
                <a:latin typeface="Segoe UI"/>
              </a:rPr>
              <a:t>(Q2) Localização em termos de receita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2435A"/>
                </a:solidFill>
                <a:latin typeface="Segoe UI"/>
              </a:rPr>
              <a:t>3. O que explica a melhor receita?</a:t>
            </a:r>
          </a:p>
          <a:p>
            <a:r>
              <a:rPr sz="1500">
                <a:solidFill>
                  <a:srgbClr val="555B63"/>
                </a:solidFill>
                <a:latin typeface="Segoe UI"/>
              </a:rPr>
              <a:t>Drivers de receita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2435A"/>
                </a:solidFill>
                <a:latin typeface="Segoe UI"/>
              </a:rPr>
              <a:t>Capacidade</a:t>
            </a:r>
            <a:r>
              <a:rPr sz="2000">
                <a:solidFill>
                  <a:srgbClr val="555B63"/>
                </a:solidFill>
                <a:latin typeface="Segoe UI"/>
              </a:rPr>
              <a:t> (quartos, banheiros, camas): correlação ~+0,2 — quanto maior, mais rende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2435A"/>
                </a:solidFill>
                <a:latin typeface="Segoe UI"/>
              </a:rPr>
              <a:t>Elevador</a:t>
            </a:r>
            <a:r>
              <a:rPr sz="2000">
                <a:solidFill>
                  <a:srgbClr val="555B63"/>
                </a:solidFill>
                <a:latin typeface="Segoe UI"/>
              </a:rPr>
              <a:t>: +21,7% de receita — a única instalação que compensa o custo na compra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2435A"/>
                </a:solidFill>
                <a:latin typeface="Segoe UI"/>
              </a:rPr>
              <a:t>Estacionamento</a:t>
            </a:r>
            <a:r>
              <a:rPr sz="2000">
                <a:solidFill>
                  <a:srgbClr val="555B63"/>
                </a:solidFill>
                <a:latin typeface="Segoe UI"/>
              </a:rPr>
              <a:t>: +29% — hóspede de morro chega de carro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555B63"/>
                </a:solidFill>
                <a:latin typeface="Segoe UI"/>
              </a:rPr>
              <a:t>Contraste: </a:t>
            </a:r>
            <a:r>
              <a:rPr sz="2000" b="1">
                <a:solidFill>
                  <a:srgbClr val="12435A"/>
                </a:solidFill>
                <a:latin typeface="Segoe UI"/>
              </a:rPr>
              <a:t>nota do anúncio e reputação quase não importam</a:t>
            </a:r>
            <a:r>
              <a:rPr sz="2000">
                <a:solidFill>
                  <a:srgbClr val="555B63"/>
                </a:solidFill>
                <a:latin typeface="Segoe UI"/>
              </a:rPr>
              <a:t> (star ≈ 0)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555B63"/>
                </a:solidFill>
                <a:latin typeface="Segoe UI"/>
              </a:rPr>
              <a:t>Piscina/academia/espaço gourmet </a:t>
            </a:r>
            <a:r>
              <a:rPr sz="2000" b="1">
                <a:solidFill>
                  <a:srgbClr val="12435A"/>
                </a:solidFill>
                <a:latin typeface="Segoe UI"/>
              </a:rPr>
              <a:t>custam mais do que devolvem</a:t>
            </a:r>
            <a:r>
              <a:rPr sz="2000">
                <a:solidFill>
                  <a:srgbClr val="555B63"/>
                </a:solidFill>
                <a:latin typeface="Segoe UI"/>
              </a:rPr>
              <a:t> — diluem o retorno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55B63"/>
                </a:solidFill>
                <a:latin typeface="Segoe UI"/>
              </a:rPr>
              <a:t>(Q3) Características que explicam as melhores receitas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2435A"/>
                </a:solidFill>
                <a:latin typeface="Segoe UI"/>
              </a:rPr>
              <a:t>A tese da Seazone: “studio/1Q no Centro”</a:t>
            </a:r>
          </a:p>
          <a:p>
            <a:r>
              <a:rPr sz="1500">
                <a:solidFill>
                  <a:srgbClr val="555B63"/>
                </a:solidFill>
                <a:latin typeface="Segoe UI"/>
              </a:rPr>
              <a:t>Os dados sustentam?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2435A"/>
                </a:solidFill>
                <a:latin typeface="Segoe UI"/>
              </a:rPr>
              <a:t>NÃO sustentam.</a:t>
            </a:r>
            <a:r>
              <a:rPr sz="2000">
                <a:solidFill>
                  <a:srgbClr val="555B63"/>
                </a:solidFill>
                <a:latin typeface="Segoe UI"/>
              </a:rPr>
              <a:t> Existem só </a:t>
            </a:r>
            <a:r>
              <a:rPr sz="2000" b="1">
                <a:solidFill>
                  <a:srgbClr val="12435A"/>
                </a:solidFill>
                <a:latin typeface="Segoe UI"/>
              </a:rPr>
              <a:t>3 studios no Centro inteiro</a:t>
            </a:r>
            <a:r>
              <a:rPr sz="2000">
                <a:solidFill>
                  <a:srgbClr val="555B63"/>
                </a:solidFill>
                <a:latin typeface="Segoe UI"/>
              </a:rPr>
              <a:t> (de 657 anúncios)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555B63"/>
                </a:solidFill>
                <a:latin typeface="Segoe UI"/>
              </a:rPr>
              <a:t>1Q/tudo no Centro tem receita entre as mais baixas e é o m² mais caro do bairro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555B63"/>
                </a:solidFill>
                <a:latin typeface="Segoe UI"/>
              </a:rPr>
              <a:t>Eles rendem </a:t>
            </a:r>
            <a:r>
              <a:rPr sz="2000" b="1">
                <a:solidFill>
                  <a:srgbClr val="12435A"/>
                </a:solidFill>
                <a:latin typeface="Segoe UI"/>
              </a:rPr>
              <a:t>menos da metade</a:t>
            </a:r>
            <a:r>
              <a:rPr sz="2000">
                <a:solidFill>
                  <a:srgbClr val="555B63"/>
                </a:solidFill>
                <a:latin typeface="Segoe UI"/>
              </a:rPr>
              <a:t> de um 3 quartos no mesmo bairro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555B63"/>
                </a:solidFill>
                <a:latin typeface="Segoe UI"/>
              </a:rPr>
              <a:t>Conclusão: a intuição de “ir compacto” acerta, </a:t>
            </a:r>
            <a:r>
              <a:rPr sz="2000" b="1">
                <a:solidFill>
                  <a:srgbClr val="12435A"/>
                </a:solidFill>
                <a:latin typeface="Segoe UI"/>
              </a:rPr>
              <a:t>mas não no Centro e não em studio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2435A"/>
                </a:solidFill>
                <a:latin typeface="Segoe UI"/>
              </a:rPr>
              <a:t>Imóvel certo com a capacidade:</a:t>
            </a:r>
            <a:r>
              <a:rPr sz="2000">
                <a:solidFill>
                  <a:srgbClr val="555B63"/>
                </a:solidFill>
                <a:latin typeface="Segoe UI"/>
              </a:rPr>
              <a:t> 2 quartos, em bairro de entrada mais barata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55B63"/>
                </a:solidFill>
                <a:latin typeface="Segoe UI"/>
              </a:rPr>
              <a:t>Tese interna — posição defendida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2435A"/>
                </a:solidFill>
                <a:latin typeface="Segoe UI"/>
              </a:rPr>
              <a:t>Por que Morretes 2Q?</a:t>
            </a:r>
          </a:p>
          <a:p>
            <a:r>
              <a:rPr sz="1500">
                <a:solidFill>
                  <a:srgbClr val="555B63"/>
                </a:solidFill>
                <a:latin typeface="Segoe UI"/>
              </a:rPr>
              <a:t>Testes de robustez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555B63"/>
                </a:solidFill>
                <a:latin typeface="Segoe UI"/>
              </a:rPr>
              <a:t>Morretes 2Q = </a:t>
            </a:r>
            <a:r>
              <a:rPr sz="2000" b="1">
                <a:solidFill>
                  <a:srgbClr val="12435A"/>
                </a:solidFill>
                <a:latin typeface="Segoe UI"/>
              </a:rPr>
              <a:t>47 anúncios</a:t>
            </a:r>
            <a:r>
              <a:rPr sz="2000">
                <a:solidFill>
                  <a:srgbClr val="555B63"/>
                </a:solidFill>
                <a:latin typeface="Segoe UI"/>
              </a:rPr>
              <a:t> com calendário confiável — amostra adequada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555B63"/>
                </a:solidFill>
                <a:latin typeface="Segoe UI"/>
              </a:rPr>
              <a:t>Yield líquido </a:t>
            </a:r>
            <a:r>
              <a:rPr sz="2000" b="1">
                <a:solidFill>
                  <a:srgbClr val="12435A"/>
                </a:solidFill>
                <a:latin typeface="Segoe UI"/>
              </a:rPr>
              <a:t>~7,3% a.a.</a:t>
            </a:r>
            <a:r>
              <a:rPr sz="2000">
                <a:solidFill>
                  <a:srgbClr val="555B63"/>
                </a:solidFill>
                <a:latin typeface="Segoe UI"/>
              </a:rPr>
              <a:t> (com condomínio/IPTU reais)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555B63"/>
                </a:solidFill>
                <a:latin typeface="Segoe UI"/>
              </a:rPr>
              <a:t>Empata com Meia Praia 1Q dentro do erro — por isso </a:t>
            </a:r>
            <a:r>
              <a:rPr sz="2000" b="1">
                <a:solidFill>
                  <a:srgbClr val="12435A"/>
                </a:solidFill>
                <a:latin typeface="Segoe UI"/>
              </a:rPr>
              <a:t>Morretes ganha pelo preço menor</a:t>
            </a:r>
            <a:r>
              <a:rPr sz="2000">
                <a:solidFill>
                  <a:srgbClr val="555B63"/>
                </a:solidFill>
                <a:latin typeface="Segoe UI"/>
              </a:rPr>
              <a:t> (~R$750 mil vs ~R$883 mil)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555B63"/>
                </a:solidFill>
                <a:latin typeface="Segoe UI"/>
              </a:rPr>
              <a:t>Alternativa (mais líquida): 1Q em Meia Praia (~6,2%); 3Q em Morretes (13,7%) rende mais mas é piloto (n=9)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555B63"/>
                </a:solidFill>
                <a:latin typeface="Segoe UI"/>
              </a:rPr>
              <a:t>Deixa o risco de ocupação em teste: haircuts de −10/−20/−30% na receita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55B63"/>
                </a:solidFill>
                <a:latin typeface="Segoe UI"/>
              </a:rPr>
              <a:t>Senso crítico — validando a opção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2435A"/>
                </a:solidFill>
                <a:latin typeface="Segoe UI"/>
              </a:rPr>
              <a:t>4. O que comprar hoje?</a:t>
            </a:r>
          </a:p>
          <a:p>
            <a:r>
              <a:rPr sz="1500">
                <a:solidFill>
                  <a:srgbClr val="555B63"/>
                </a:solidFill>
                <a:latin typeface="Segoe UI"/>
              </a:rPr>
              <a:t>2 quartos em Morretes, com elevador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C8860B"/>
                </a:solidFill>
                <a:latin typeface="Segoe UI"/>
              </a:rPr>
              <a:t>~R$ 750 mil</a:t>
            </a:r>
          </a:p>
          <a:p>
            <a:r>
              <a:rPr sz="1500">
                <a:solidFill>
                  <a:srgbClr val="555B63"/>
                </a:solidFill>
                <a:latin typeface="Segoe UI"/>
              </a:rPr>
              <a:t>preço de compra (R$ 11.100/m², 69 m²)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A9D8F"/>
                </a:solidFill>
                <a:latin typeface="Segoe UI"/>
              </a:rPr>
              <a:t>~7,3% a.a.</a:t>
            </a:r>
          </a:p>
          <a:p>
            <a:r>
              <a:rPr sz="1500">
                <a:solidFill>
                  <a:srgbClr val="555B63"/>
                </a:solidFill>
                <a:latin typeface="Segoe UI"/>
              </a:rPr>
              <a:t>retorno líquido sobre o capital (autogestão)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4630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55B63"/>
                </a:solidFill>
                <a:latin typeface="Segoe UI"/>
              </a:rPr>
              <a:t>Receita mediana: ~R$ 59,8 mil/ano.
Custo de carrego real (condomínio + IPTU) já descontado.
Comparado com:
• comprar 1Q Meia Praia ≈ 6,2%
• case da própria Seazone (Manhattan Flats) ≈ 8,1%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515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555B63"/>
                </a:solidFill>
                <a:latin typeface="Segoe UI"/>
              </a:rPr>
              <a:t>Comprar à vista (ITBI 1,5% + escritura + mobília)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555B63"/>
                </a:solidFill>
                <a:latin typeface="Segoe UI"/>
              </a:rPr>
              <a:t>Financiar (~11,2% a.a.) </a:t>
            </a:r>
            <a:r>
              <a:rPr sz="1500" b="1">
                <a:solidFill>
                  <a:srgbClr val="12435A"/>
                </a:solidFill>
                <a:latin typeface="Segoe UI"/>
              </a:rPr>
              <a:t>destrói</a:t>
            </a:r>
            <a:r>
              <a:rPr sz="1500">
                <a:solidFill>
                  <a:srgbClr val="555B63"/>
                </a:solidFill>
                <a:latin typeface="Segoe UI"/>
              </a:rPr>
              <a:t> o retorno → fluxo negativo no ano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55B63"/>
                </a:solidFill>
                <a:latin typeface="Segoe UI"/>
              </a:rPr>
              <a:t>(Q4) Estimativa simples de retorno + por quê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2435A"/>
                </a:solidFill>
                <a:latin typeface="Segoe UI"/>
              </a:rPr>
              <a:t>À vista é o único jeito</a:t>
            </a:r>
          </a:p>
          <a:p>
            <a:r>
              <a:rPr sz="1500">
                <a:solidFill>
                  <a:srgbClr val="555B63"/>
                </a:solidFill>
                <a:latin typeface="Segoe UI"/>
              </a:rPr>
              <a:t>Alavancagem hoje é contraproducente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555B63"/>
                </a:solidFill>
                <a:latin typeface="Segoe UI"/>
              </a:rPr>
              <a:t>Taxa de financiamento SFH ~</a:t>
            </a:r>
            <a:r>
              <a:rPr sz="2200" b="1">
                <a:solidFill>
                  <a:srgbClr val="12435A"/>
                </a:solidFill>
                <a:latin typeface="Segoe UI"/>
              </a:rPr>
              <a:t>11,2% a.a.</a:t>
            </a:r>
            <a:r>
              <a:rPr sz="2200">
                <a:solidFill>
                  <a:srgbClr val="555B63"/>
                </a:solidFill>
                <a:latin typeface="Segoe UI"/>
              </a:rPr>
              <a:t> &gt; yield operacional (~7% —)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555B63"/>
                </a:solidFill>
                <a:latin typeface="Segoe UI"/>
              </a:rPr>
              <a:t>Simulação (SAC, 20 anos): serviço da dívida ano 1 ≈ </a:t>
            </a:r>
            <a:r>
              <a:rPr sz="2200" b="1">
                <a:solidFill>
                  <a:srgbClr val="12435A"/>
                </a:solidFill>
                <a:latin typeface="Segoe UI"/>
              </a:rPr>
              <a:t>R$ 80,9 mil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555B63"/>
                </a:solidFill>
                <a:latin typeface="Segoe UI"/>
              </a:rPr>
              <a:t>Com retorno de ~R$ 50 mil → </a:t>
            </a:r>
            <a:r>
              <a:rPr sz="2200" b="1">
                <a:solidFill>
                  <a:srgbClr val="12435A"/>
                </a:solidFill>
                <a:latin typeface="Segoe UI"/>
              </a:rPr>
              <a:t>fluxo de caixa negativo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555B63"/>
                </a:solidFill>
                <a:latin typeface="Segoe UI"/>
              </a:rPr>
              <a:t>Conclusão: </a:t>
            </a:r>
            <a:r>
              <a:rPr sz="2200" b="1">
                <a:solidFill>
                  <a:srgbClr val="12435A"/>
                </a:solidFill>
                <a:latin typeface="Segoe UI"/>
              </a:rPr>
              <a:t>comprar à vista</a:t>
            </a:r>
            <a:r>
              <a:rPr sz="2200">
                <a:solidFill>
                  <a:srgbClr val="555B63"/>
                </a:solidFill>
                <a:latin typeface="Segoe UI"/>
              </a:rPr>
              <a:t> é a única forma de o investimento se pagar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55B63"/>
                </a:solidFill>
                <a:latin typeface="Segoe UI"/>
              </a:rPr>
              <a:t>Risco financeiro — honestidade de premissa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2435A"/>
                </a:solidFill>
                <a:latin typeface="Segoe UI"/>
              </a:rPr>
              <a:t>Se a prioridade fosse liquidez</a:t>
            </a:r>
          </a:p>
          <a:p>
            <a:r>
              <a:rPr sz="1500">
                <a:solidFill>
                  <a:srgbClr val="555B63"/>
                </a:solidFill>
                <a:latin typeface="Segoe UI"/>
              </a:rPr>
              <a:t>Alternativa de menor risco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12435A"/>
                </a:solidFill>
                <a:latin typeface="Segoe UI"/>
              </a:rPr>
              <a:t>1 quarto em Meia Praia</a:t>
            </a:r>
            <a:r>
              <a:rPr sz="2200">
                <a:solidFill>
                  <a:srgbClr val="555B63"/>
                </a:solidFill>
                <a:latin typeface="Segoe UI"/>
              </a:rPr>
              <a:t> — mais líquido (bairro = 64% do mercado) e receita previsível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555B63"/>
                </a:solidFill>
                <a:latin typeface="Segoe UI"/>
              </a:rPr>
              <a:t>Yield menor (~6,2%) em troca de </a:t>
            </a:r>
            <a:r>
              <a:rPr sz="2200" b="1">
                <a:solidFill>
                  <a:srgbClr val="12435A"/>
                </a:solidFill>
                <a:latin typeface="Segoe UI"/>
              </a:rPr>
              <a:t>mais liquidez e demanda turística comprovada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555B63"/>
                </a:solidFill>
                <a:latin typeface="Segoe UI"/>
              </a:rPr>
              <a:t>O requisito final é </a:t>
            </a:r>
            <a:r>
              <a:rPr sz="2200" b="1">
                <a:solidFill>
                  <a:srgbClr val="12435A"/>
                </a:solidFill>
                <a:latin typeface="Segoe UI"/>
              </a:rPr>
              <a:t>2Q em Morretes</a:t>
            </a:r>
            <a:r>
              <a:rPr sz="2200">
                <a:solidFill>
                  <a:srgbClr val="555B63"/>
                </a:solidFill>
                <a:latin typeface="Segoe UI"/>
              </a:rPr>
              <a:t> (melhor retorno sobre o capital)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55B63"/>
                </a:solidFill>
                <a:latin typeface="Segoe UI"/>
              </a:rPr>
              <a:t>Cenário alternativo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2435A"/>
                </a:solidFill>
                <a:latin typeface="Segoe UI"/>
              </a:rPr>
              <a:t>Como chegamos aos números</a:t>
            </a:r>
          </a:p>
          <a:p>
            <a:r>
              <a:rPr sz="1500">
                <a:solidFill>
                  <a:srgbClr val="555B63"/>
                </a:solidFill>
                <a:latin typeface="Segoe UI"/>
              </a:rPr>
              <a:t>Nada foi inventado — método de 3 fontes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2435A"/>
                </a:solidFill>
                <a:latin typeface="Segoe UI"/>
              </a:rPr>
              <a:t>Receita</a:t>
            </a:r>
            <a:r>
              <a:rPr sz="2000">
                <a:solidFill>
                  <a:srgbClr val="555B63"/>
                </a:solidFill>
                <a:latin typeface="Segoe UI"/>
              </a:rPr>
              <a:t> — proxy de ADR × ocupação do calendário de preços (925 anúncios, janela ≥ 60 dias), teste de haircuts −10/−20/−30%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2435A"/>
                </a:solidFill>
                <a:latin typeface="Segoe UI"/>
              </a:rPr>
              <a:t>Custo de compra</a:t>
            </a:r>
            <a:r>
              <a:rPr sz="2000">
                <a:solidFill>
                  <a:srgbClr val="555B63"/>
                </a:solidFill>
                <a:latin typeface="Segoe UI"/>
              </a:rPr>
              <a:t> — preço mediano real do VivaReal por bairro × quartos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2435A"/>
                </a:solidFill>
                <a:latin typeface="Segoe UI"/>
              </a:rPr>
              <a:t>Carregar o imóvel</a:t>
            </a:r>
            <a:r>
              <a:rPr sz="2000">
                <a:solidFill>
                  <a:srgbClr val="555B63"/>
                </a:solidFill>
                <a:latin typeface="Segoe UI"/>
              </a:rPr>
              <a:t> — condomínio/IPTU reais (corrigimos os placeholders 0/1 da base)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2435A"/>
                </a:solidFill>
                <a:latin typeface="Segoe UI"/>
              </a:rPr>
              <a:t>Retorno</a:t>
            </a:r>
            <a:r>
              <a:rPr sz="2000">
                <a:solidFill>
                  <a:srgbClr val="555B63"/>
                </a:solidFill>
                <a:latin typeface="Segoe UI"/>
              </a:rPr>
              <a:t> — yield + custos operacionais (mobília, limpeza, taxa Airbnb, IR)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555B63"/>
                </a:solidFill>
                <a:latin typeface="Segoe UI"/>
              </a:rPr>
              <a:t>Tudo conferido por </a:t>
            </a:r>
            <a:r>
              <a:rPr sz="2000" b="1">
                <a:solidFill>
                  <a:srgbClr val="12435A"/>
                </a:solidFill>
                <a:latin typeface="Segoe UI"/>
              </a:rPr>
              <a:t>segundo cálculo independente</a:t>
            </a:r>
            <a:r>
              <a:rPr sz="2000">
                <a:solidFill>
                  <a:srgbClr val="555B63"/>
                </a:solidFill>
                <a:latin typeface="Segoe UI"/>
              </a:rPr>
              <a:t>; detalhes em `FONTES_E_PREMISSAS.md`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55B63"/>
                </a:solidFill>
                <a:latin typeface="Segoe UI"/>
              </a:rPr>
              <a:t>Metodologia — coerente com o relatório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2435A"/>
                </a:solidFill>
                <a:latin typeface="Segoe UI"/>
              </a:rPr>
              <a:t>Como usei IA</a:t>
            </a:r>
          </a:p>
          <a:p>
            <a:r>
              <a:rPr sz="1500">
                <a:solidFill>
                  <a:srgbClr val="555B63"/>
                </a:solidFill>
                <a:latin typeface="Segoe UI"/>
              </a:rPr>
              <a:t>Ferramenta de trabalho, não a resposta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555B63"/>
                </a:solidFill>
                <a:latin typeface="Segoe UI"/>
              </a:rPr>
              <a:t>Para </a:t>
            </a:r>
            <a:r>
              <a:rPr sz="2200" b="1">
                <a:solidFill>
                  <a:srgbClr val="12435A"/>
                </a:solidFill>
                <a:latin typeface="Segoe UI"/>
              </a:rPr>
              <a:t>cruzar as 5 bases</a:t>
            </a:r>
            <a:r>
              <a:rPr sz="2200">
                <a:solidFill>
                  <a:srgbClr val="555B63"/>
                </a:solidFill>
                <a:latin typeface="Segoe UI"/>
              </a:rPr>
              <a:t> e montar o modelo de retorno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555B63"/>
                </a:solidFill>
                <a:latin typeface="Segoe UI"/>
              </a:rPr>
              <a:t>Para </a:t>
            </a:r>
            <a:r>
              <a:rPr sz="2200" b="1">
                <a:solidFill>
                  <a:srgbClr val="12435A"/>
                </a:solidFill>
                <a:latin typeface="Segoe UI"/>
              </a:rPr>
              <a:t>pesquisar taxas reais</a:t>
            </a:r>
            <a:r>
              <a:rPr sz="2200">
                <a:solidFill>
                  <a:srgbClr val="555B63"/>
                </a:solidFill>
                <a:latin typeface="Segoe UI"/>
              </a:rPr>
              <a:t> de mercado (ITBI, financiamento, custos)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555B63"/>
                </a:solidFill>
                <a:latin typeface="Segoe UI"/>
              </a:rPr>
              <a:t>O mais importante: para </a:t>
            </a:r>
            <a:r>
              <a:rPr sz="2200" b="1">
                <a:solidFill>
                  <a:srgbClr val="12435A"/>
                </a:solidFill>
                <a:latin typeface="Segoe UI"/>
              </a:rPr>
              <a:t>testar e tentar derrubar a própria conclusão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555B63"/>
                </a:solidFill>
                <a:latin typeface="Segoe UI"/>
              </a:rPr>
              <a:t>Todo o processo, incluindo os reversos, está em `ai-log/`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55B63"/>
                </a:solidFill>
                <a:latin typeface="Segoe UI"/>
              </a:rPr>
              <a:t>Rastreabilidade do raciocínio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24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2435A"/>
                </a:solidFill>
                <a:latin typeface="Segoe UI"/>
              </a:rPr>
              <a:t>Fechamento</a:t>
            </a:r>
          </a:p>
          <a:p>
            <a:r>
              <a:rPr sz="1500">
                <a:solidFill>
                  <a:srgbClr val="555B63"/>
                </a:solidFill>
                <a:latin typeface="Segoe UI"/>
              </a:rPr>
              <a:t>Com mais uma semana + 1 frase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2435A"/>
                </a:solidFill>
                <a:latin typeface="Segoe UI"/>
              </a:rPr>
              <a:t>Com mais uma semana:</a:t>
            </a:r>
            <a:r>
              <a:rPr sz="2000">
                <a:solidFill>
                  <a:srgbClr val="555B63"/>
                </a:solidFill>
                <a:latin typeface="Segoe UI"/>
              </a:rPr>
              <a:t> dados reais de ocupação (hoje é proxy de calendário) e geolocalização exata até a mora, não o centróide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2435A"/>
                </a:solidFill>
                <a:latin typeface="Segoe UI"/>
              </a:rPr>
              <a:t>Frase final:</a:t>
            </a:r>
            <a:r>
              <a:rPr sz="2000">
                <a:solidFill>
                  <a:srgbClr val="555B63"/>
                </a:solidFill>
                <a:latin typeface="Segoe UI"/>
              </a:rPr>
              <a:t> para a Seazone, a compra mais defensável hoje é um </a:t>
            </a:r>
            <a:r>
              <a:rPr sz="2000" b="1">
                <a:solidFill>
                  <a:srgbClr val="12435A"/>
                </a:solidFill>
                <a:latin typeface="Segoe UI"/>
              </a:rPr>
              <a:t>apartamento de 2 quartos em Morrois, com elevador, ~R$ 750 mil e ~7,3% ao ano</a:t>
            </a:r>
            <a:r>
              <a:rPr sz="2000">
                <a:solidFill>
                  <a:srgbClr val="555B63"/>
                </a:solidFill>
                <a:latin typeface="Segoe UI"/>
              </a:rPr>
              <a:t> — e a tese interna do compacto no Centro não se sustenta nos dados.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55B63"/>
                </a:solidFill>
                <a:latin typeface="Segoe UI"/>
              </a:rPr>
              <a:t>Encerrar olhando para a câmera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